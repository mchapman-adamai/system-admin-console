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333" r:id="rId3"/>
    <p:sldId id="33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406B0-19BC-F744-93CE-D95EC6CC68BA}" v="3" dt="2026-03-11T13:56:59.350"/>
  </p1510:revLst>
</p1510:revInfo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yn Chapman" userId="32cb8745-1469-4aec-a4cb-0f41d9df6104" providerId="ADAL" clId="{B70BE9E3-697F-5F6F-8BBF-257642FB3A58}"/>
    <pc:docChg chg="modSld">
      <pc:chgData name="Martyn Chapman" userId="32cb8745-1469-4aec-a4cb-0f41d9df6104" providerId="ADAL" clId="{B70BE9E3-697F-5F6F-8BBF-257642FB3A58}" dt="2026-03-11T13:57:30.860" v="53"/>
      <pc:docMkLst>
        <pc:docMk/>
      </pc:docMkLst>
      <pc:sldChg chg="addSp delSp modSp mod">
        <pc:chgData name="Martyn Chapman" userId="32cb8745-1469-4aec-a4cb-0f41d9df6104" providerId="ADAL" clId="{B70BE9E3-697F-5F6F-8BBF-257642FB3A58}" dt="2026-03-11T13:57:30.860" v="53"/>
        <pc:sldMkLst>
          <pc:docMk/>
          <pc:sldMk cId="3238717136" sldId="337"/>
        </pc:sldMkLst>
        <pc:spChg chg="add del mod">
          <ac:chgData name="Martyn Chapman" userId="32cb8745-1469-4aec-a4cb-0f41d9df6104" providerId="ADAL" clId="{B70BE9E3-697F-5F6F-8BBF-257642FB3A58}" dt="2026-03-11T13:57:30.860" v="53"/>
          <ac:spMkLst>
            <pc:docMk/>
            <pc:sldMk cId="3238717136" sldId="337"/>
            <ac:spMk id="2" creationId="{E4719E2B-D3B9-1916-6F11-A34988CD7AEE}"/>
          </ac:spMkLst>
        </pc:spChg>
        <pc:spChg chg="add mod">
          <ac:chgData name="Martyn Chapman" userId="32cb8745-1469-4aec-a4cb-0f41d9df6104" providerId="ADAL" clId="{B70BE9E3-697F-5F6F-8BBF-257642FB3A58}" dt="2026-03-11T13:57:13.492" v="51" actId="2711"/>
          <ac:spMkLst>
            <pc:docMk/>
            <pc:sldMk cId="3238717136" sldId="337"/>
            <ac:spMk id="3" creationId="{7A2ABB1B-0D1C-67C9-CBC8-F841DB8AD4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4641-91EB-A95B-829B-3F9650A38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2764A-79C7-8F3A-3386-CDA73CED5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504B2-C3D8-614E-062C-B75E10F7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0939-E445-4F2D-1455-92FD98BE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3C0BE-D25F-C959-9F47-7566CB6C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266E-8FE0-1529-4AF6-C1AA96B6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9B00F-E878-33A0-0772-39517A04B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CADB2-1DCB-7793-6838-9CD3A46C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6993E-6BF8-398A-657A-E5AC5019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3657-5FD8-8A84-2BE1-0ECF393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0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0298-96AF-EAFF-6A24-83B32184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FF590-3F50-1739-1A29-93C50B3D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17FFD-9BCF-080C-AFD9-F36E964A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BE992-2F2A-26E8-FC5E-837C4922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EA11B-993D-57B8-5211-F7747302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3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E1C5-01CC-1A28-7265-21C3B508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6CC00-3980-7AF9-FAE0-299D2F028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E8E34-C2D5-3DDF-A6DC-BD4D32B12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EEEAD-7BFB-613B-E6C4-F8643D70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11F2-DC2D-53EA-34EA-877D15C9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2A5B9-7394-6734-1F03-9958AB7B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9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E228-8921-955B-4559-53E44F55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B414E-CBB7-B2D2-CD57-B63721442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382CB-11AD-D63A-9ADF-8A031C493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E2A7E-B6FE-3B92-8B00-D55253C09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F77D4-1AF7-B8E9-91A8-951A9DBD5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505E6-4F6A-9F7B-6150-AA432E61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9C0F0-AF29-8373-EA4B-77DF63A0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98DF4-8CBE-F973-CCE3-8FDA9C38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FE7C-451C-4F46-51F3-077A8379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F8E09-317C-F2EB-D37F-9C990DD7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03DEE-5F07-6E1D-6C30-B83C5DF6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22ED5-AF6A-9699-3079-8ECA7E3D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9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50502-B8AB-6385-1D42-70C7A4E4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EFB58-9A94-81EC-2824-1298C623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22E12-93FB-6F40-A7E5-F7A638F9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0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F279-5B7E-460D-AA40-5C8F9D5A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EDB4-035A-80A8-3D8D-F4954809C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EAAE0-6DBE-D4C5-1743-B67B8A3BC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75D6B-1073-4462-268C-635E1D15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FDBE1-9DF1-5D75-98DD-1748004B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6B37C-ED25-ECCF-6D29-63CFA33F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2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E6D8-E482-D4AF-B274-744447E9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0C1BA-55BB-9C32-C414-2C9F04FB5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074A5-E9E9-B287-FF1E-F57ECFE14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64007-484C-3325-B3AF-3B42F833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A99CC-D222-04F8-1906-48283E58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DF27E-5242-F427-047D-F50477EC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51E8-43FA-0DF9-9A79-C530837B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212AD-B74C-717D-9001-653F4177A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86136-67B7-A7BE-A875-BD70AE5E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BB817-64BD-52BB-600D-51743C72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98D7C-AD0B-11C2-20B2-A55C597B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7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AA0C7-4993-6075-6B05-136B07580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53952-812D-4CB5-977C-6DEC7908C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C0B0-C523-A81D-AA9A-58C6CD22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DA23C-6318-76BA-0071-5870789A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61B61-B094-67C2-32B2-9C4246CD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1317D-E036-CA8D-4DC6-CAC02A7DE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6"/>
            <a:ext cx="12192000" cy="6855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81203-8140-55E1-FBD8-A2EE59F2A3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87" y="2236"/>
            <a:ext cx="12188024" cy="6855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62744-29B3-43DE-4E75-8F51A63893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77733" y="6181584"/>
            <a:ext cx="1176021" cy="34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6586B5-C2A9-C90A-85A9-5DECD2D62D5C}"/>
              </a:ext>
            </a:extLst>
          </p:cNvPr>
          <p:cNvSpPr txBox="1"/>
          <p:nvPr userDrawn="1"/>
        </p:nvSpPr>
        <p:spPr>
          <a:xfrm>
            <a:off x="407988" y="382907"/>
            <a:ext cx="158056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©2025 adam.ai Inc., all rights reserved.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B6417-F548-1621-CBC3-6C2AE6A3FEB8}"/>
              </a:ext>
            </a:extLst>
          </p:cNvPr>
          <p:cNvSpPr txBox="1"/>
          <p:nvPr userDrawn="1"/>
        </p:nvSpPr>
        <p:spPr>
          <a:xfrm>
            <a:off x="11605096" y="38290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V5.4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32837-F999-832E-8718-C94ECA59D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7600" y="2216150"/>
            <a:ext cx="7466013" cy="1212850"/>
          </a:xfrm>
          <a:prstGeom prst="rect">
            <a:avLst/>
          </a:prstGeom>
        </p:spPr>
        <p:txBody>
          <a:bodyPr/>
          <a:lstStyle>
            <a:lvl1pPr>
              <a:buNone/>
              <a:defRPr sz="8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C3E7263-F911-D545-D7DA-01B26B16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87600" y="3592442"/>
            <a:ext cx="7466013" cy="1212850"/>
          </a:xfrm>
          <a:prstGeom prst="rect">
            <a:avLst/>
          </a:prstGeom>
        </p:spPr>
        <p:txBody>
          <a:bodyPr/>
          <a:lstStyle>
            <a:lvl1pPr>
              <a:buNone/>
              <a:defRPr sz="8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Subheading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74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1317D-E036-CA8D-4DC6-CAC02A7DE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6"/>
            <a:ext cx="12192000" cy="6855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81203-8140-55E1-FBD8-A2EE59F2A3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87" y="2236"/>
            <a:ext cx="12188024" cy="6855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62744-29B3-43DE-4E75-8F51A63893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77733" y="6181584"/>
            <a:ext cx="1176021" cy="34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6586B5-C2A9-C90A-85A9-5DECD2D62D5C}"/>
              </a:ext>
            </a:extLst>
          </p:cNvPr>
          <p:cNvSpPr txBox="1"/>
          <p:nvPr userDrawn="1"/>
        </p:nvSpPr>
        <p:spPr>
          <a:xfrm>
            <a:off x="407988" y="382907"/>
            <a:ext cx="158056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©2025 adam.ai Inc., all rights reserved.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B6417-F548-1621-CBC3-6C2AE6A3FEB8}"/>
              </a:ext>
            </a:extLst>
          </p:cNvPr>
          <p:cNvSpPr txBox="1"/>
          <p:nvPr userDrawn="1"/>
        </p:nvSpPr>
        <p:spPr>
          <a:xfrm>
            <a:off x="11605096" y="38290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V5.4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32837-F999-832E-8718-C94ECA59D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7600" y="2216150"/>
            <a:ext cx="7466013" cy="1212850"/>
          </a:xfrm>
          <a:prstGeom prst="rect">
            <a:avLst/>
          </a:prstGeom>
        </p:spPr>
        <p:txBody>
          <a:bodyPr/>
          <a:lstStyle>
            <a:lvl1pPr>
              <a:buNone/>
              <a:defRPr sz="8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C3E7263-F911-D545-D7DA-01B26B16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87600" y="3592442"/>
            <a:ext cx="7466013" cy="1212850"/>
          </a:xfrm>
          <a:prstGeom prst="rect">
            <a:avLst/>
          </a:prstGeom>
        </p:spPr>
        <p:txBody>
          <a:bodyPr/>
          <a:lstStyle>
            <a:lvl1pPr>
              <a:buNone/>
              <a:defRPr sz="8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Subheading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12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1317D-E036-CA8D-4DC6-CAC02A7DE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6"/>
            <a:ext cx="12192000" cy="6855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81203-8140-55E1-FBD8-A2EE59F2A3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989" y="2237"/>
            <a:ext cx="12188024" cy="6855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62744-29B3-43DE-4E75-8F51A63893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77733" y="6181584"/>
            <a:ext cx="1176021" cy="34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6586B5-C2A9-C90A-85A9-5DECD2D62D5C}"/>
              </a:ext>
            </a:extLst>
          </p:cNvPr>
          <p:cNvSpPr txBox="1"/>
          <p:nvPr userDrawn="1"/>
        </p:nvSpPr>
        <p:spPr>
          <a:xfrm>
            <a:off x="407988" y="382907"/>
            <a:ext cx="158056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©2025 adam.ai Inc., all rights reserved.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B6417-F548-1621-CBC3-6C2AE6A3FEB8}"/>
              </a:ext>
            </a:extLst>
          </p:cNvPr>
          <p:cNvSpPr txBox="1"/>
          <p:nvPr userDrawn="1"/>
        </p:nvSpPr>
        <p:spPr>
          <a:xfrm>
            <a:off x="11605096" y="38290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V5.4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F9AC3A-C7B3-101B-4B70-667586961A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8796" y="2216150"/>
            <a:ext cx="8734818" cy="1212850"/>
          </a:xfrm>
          <a:prstGeom prst="rect">
            <a:avLst/>
          </a:prstGeom>
        </p:spPr>
        <p:txBody>
          <a:bodyPr/>
          <a:lstStyle>
            <a:lvl1pPr>
              <a:buNone/>
              <a:defRPr sz="8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6ED72A-38BB-186F-873B-20A6B27CD0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8796" y="3592442"/>
            <a:ext cx="8734818" cy="1212850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latin typeface="Arial Nova" panose="020B0504020202020204" pitchFamily="34" charset="0"/>
              </a:defRPr>
            </a:lvl1pPr>
          </a:lstStyle>
          <a:p>
            <a:pPr lvl="0"/>
            <a:r>
              <a:rPr lang="en-GB"/>
              <a:t>Subheading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1317D-E036-CA8D-4DC6-CAC02A7DE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6"/>
            <a:ext cx="12192000" cy="6855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81203-8140-55E1-FBD8-A2EE59F2A3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87" y="2236"/>
            <a:ext cx="12188024" cy="6855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62744-29B3-43DE-4E75-8F51A63893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77733" y="6181584"/>
            <a:ext cx="1176021" cy="34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6586B5-C2A9-C90A-85A9-5DECD2D62D5C}"/>
              </a:ext>
            </a:extLst>
          </p:cNvPr>
          <p:cNvSpPr txBox="1"/>
          <p:nvPr userDrawn="1"/>
        </p:nvSpPr>
        <p:spPr>
          <a:xfrm>
            <a:off x="407988" y="382907"/>
            <a:ext cx="158056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©2025 adam.ai Inc., all rights reserved.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B6417-F548-1621-CBC3-6C2AE6A3FEB8}"/>
              </a:ext>
            </a:extLst>
          </p:cNvPr>
          <p:cNvSpPr txBox="1"/>
          <p:nvPr userDrawn="1"/>
        </p:nvSpPr>
        <p:spPr>
          <a:xfrm>
            <a:off x="11605096" y="38290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700" b="0" i="0">
                <a:solidFill>
                  <a:schemeClr val="tx1"/>
                </a:solidFill>
                <a:latin typeface="Arial Nova Light" panose="020B0304020202020204" pitchFamily="34" charset="0"/>
              </a:rPr>
              <a:t>V5.4</a:t>
            </a:r>
            <a:endParaRPr lang="ar-SA" sz="700" b="0" i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69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80D2DF-512E-A85B-3197-D682BF188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37079" y="327884"/>
            <a:ext cx="1511548" cy="4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75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98D574-232B-18F2-33BF-77D6F225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000461"/>
            <a:ext cx="11264059" cy="690227"/>
          </a:xfrm>
          <a:prstGeom prst="rect">
            <a:avLst/>
          </a:prstGeo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72753A-D02B-90AA-B6EC-D09A1823A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37079" y="327884"/>
            <a:ext cx="1511548" cy="441837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04A93B6-09BE-B9CF-7B0C-36C999458D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988" y="1839558"/>
            <a:ext cx="11264058" cy="4716000"/>
          </a:xfrm>
          <a:prstGeom prst="rect">
            <a:avLst/>
          </a:prstGeom>
        </p:spPr>
        <p:txBody>
          <a:bodyPr lIns="90000"/>
          <a:lstStyle>
            <a:lvl1pPr marL="165100" indent="-165100">
              <a:tabLst/>
              <a:defRPr sz="2400">
                <a:latin typeface="Arial Nova" panose="020B0504020202020204" pitchFamily="34" charset="0"/>
              </a:defRPr>
            </a:lvl1pPr>
            <a:lvl2pPr marL="495300" indent="-157163">
              <a:tabLst/>
              <a:defRPr sz="2000">
                <a:latin typeface="Arial Nova" panose="020B0504020202020204" pitchFamily="34" charset="0"/>
              </a:defRPr>
            </a:lvl2pPr>
            <a:lvl3pPr marL="800100" indent="-157163">
              <a:tabLst/>
              <a:defRPr sz="1800">
                <a:latin typeface="Arial Nova" panose="020B0504020202020204" pitchFamily="34" charset="0"/>
              </a:defRPr>
            </a:lvl3pPr>
            <a:lvl4pPr marL="1112838" indent="-147638">
              <a:tabLst/>
              <a:defRPr sz="1600">
                <a:latin typeface="Arial Nova" panose="020B0504020202020204" pitchFamily="34" charset="0"/>
              </a:defRPr>
            </a:lvl4pPr>
            <a:lvl5pPr marL="1382713" indent="-147638">
              <a:tabLst/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6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98D574-232B-18F2-33BF-77D6F225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000461"/>
            <a:ext cx="11264059" cy="690227"/>
          </a:xfrm>
          <a:prstGeom prst="rect">
            <a:avLst/>
          </a:prstGeo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C4D5D-F840-FFB8-DD57-A851E1A1CF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37079" y="327884"/>
            <a:ext cx="1511548" cy="441837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C418CF4-95F5-8179-BE1F-109968835CE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988" y="1839558"/>
            <a:ext cx="5400000" cy="4716000"/>
          </a:xfrm>
          <a:prstGeom prst="rect">
            <a:avLst/>
          </a:prstGeom>
        </p:spPr>
        <p:txBody>
          <a:bodyPr lIns="90000"/>
          <a:lstStyle>
            <a:lvl1pPr marL="165100" indent="-165100">
              <a:tabLst/>
              <a:defRPr sz="2400">
                <a:latin typeface="Arial Nova" panose="020B0504020202020204" pitchFamily="34" charset="0"/>
              </a:defRPr>
            </a:lvl1pPr>
            <a:lvl2pPr marL="495300" indent="-157163">
              <a:tabLst/>
              <a:defRPr sz="2000">
                <a:latin typeface="Arial Nova" panose="020B0504020202020204" pitchFamily="34" charset="0"/>
              </a:defRPr>
            </a:lvl2pPr>
            <a:lvl3pPr marL="800100" indent="-157163">
              <a:tabLst/>
              <a:defRPr sz="1800">
                <a:latin typeface="Arial Nova" panose="020B0504020202020204" pitchFamily="34" charset="0"/>
              </a:defRPr>
            </a:lvl3pPr>
            <a:lvl4pPr marL="1112838" indent="-147638">
              <a:tabLst/>
              <a:defRPr sz="1600">
                <a:latin typeface="Arial Nova" panose="020B0504020202020204" pitchFamily="34" charset="0"/>
              </a:defRPr>
            </a:lvl4pPr>
            <a:lvl5pPr marL="1382713" indent="-147638">
              <a:tabLst/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6F67503-9751-D17E-6DF6-05158CCF65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2046" y="1839558"/>
            <a:ext cx="5400000" cy="4716000"/>
          </a:xfrm>
          <a:prstGeom prst="rect">
            <a:avLst/>
          </a:prstGeom>
        </p:spPr>
        <p:txBody>
          <a:bodyPr lIns="90000"/>
          <a:lstStyle>
            <a:lvl1pPr marL="165100" indent="-165100">
              <a:tabLst/>
              <a:defRPr sz="2400">
                <a:latin typeface="Arial Nova" panose="020B0504020202020204" pitchFamily="34" charset="0"/>
              </a:defRPr>
            </a:lvl1pPr>
            <a:lvl2pPr marL="495300" indent="-157163">
              <a:tabLst/>
              <a:defRPr sz="2000">
                <a:latin typeface="Arial Nova" panose="020B0504020202020204" pitchFamily="34" charset="0"/>
              </a:defRPr>
            </a:lvl2pPr>
            <a:lvl3pPr marL="800100" indent="-157163">
              <a:tabLst/>
              <a:defRPr sz="1800">
                <a:latin typeface="Arial Nova" panose="020B0504020202020204" pitchFamily="34" charset="0"/>
              </a:defRPr>
            </a:lvl3pPr>
            <a:lvl4pPr marL="1112838" indent="-147638">
              <a:tabLst/>
              <a:defRPr sz="1600">
                <a:latin typeface="Arial Nova" panose="020B0504020202020204" pitchFamily="34" charset="0"/>
              </a:defRPr>
            </a:lvl4pPr>
            <a:lvl5pPr marL="1382713" indent="-147638">
              <a:tabLst/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18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A55CA9-CBD4-A6D6-AA8E-5C80BC8B1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7988" y="327884"/>
            <a:ext cx="1511547" cy="4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2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5ACBF0"/>
          </p15:clr>
        </p15:guide>
        <p15:guide id="2" pos="257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06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F6597-087F-B5F2-5604-818AC649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E8ECC-D283-C985-D68C-148CA54CA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092E4-D45D-4A37-B7E4-BBA7E7A2D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45095-F18C-364A-ABF9-69E52712446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693B-80BB-F6BE-9E58-0E6FF2FB9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5A5E-B4BC-E58D-FD34-4CA6D3639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EDB24-5EAF-0046-BA8B-8E5B0E51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6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28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0074-3EB8-18C4-D4BB-9EC1E9EA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256CBE-739D-8680-8508-D49B890EE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4348" y="1687857"/>
            <a:ext cx="7083977" cy="3482285"/>
          </a:xfrm>
        </p:spPr>
        <p:txBody>
          <a:bodyPr>
            <a:normAutofit fontScale="92500" lnSpcReduction="10000"/>
          </a:bodyPr>
          <a:lstStyle/>
          <a:p>
            <a:pPr marL="0"/>
            <a:r>
              <a:rPr lang="en-US" sz="7200" dirty="0"/>
              <a:t>Platform Access, Security &amp; Governance Capability Map</a:t>
            </a:r>
          </a:p>
        </p:txBody>
      </p:sp>
    </p:spTree>
    <p:extLst>
      <p:ext uri="{BB962C8B-B14F-4D97-AF65-F5344CB8AC3E}">
        <p14:creationId xmlns:p14="http://schemas.microsoft.com/office/powerpoint/2010/main" val="3706009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EC55B8-BE06-0978-8D59-AF8D60CAA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315839"/>
              </p:ext>
            </p:extLst>
          </p:nvPr>
        </p:nvGraphicFramePr>
        <p:xfrm>
          <a:off x="409182" y="906160"/>
          <a:ext cx="11373635" cy="5174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24805">
                  <a:extLst>
                    <a:ext uri="{9D8B030D-6E8A-4147-A177-3AD203B41FA5}">
                      <a16:colId xmlns:a16="http://schemas.microsoft.com/office/drawing/2014/main" val="368394333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4224765149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1658007447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1795228184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1102337224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3440704622"/>
                    </a:ext>
                  </a:extLst>
                </a:gridCol>
                <a:gridCol w="1624805">
                  <a:extLst>
                    <a:ext uri="{9D8B030D-6E8A-4147-A177-3AD203B41FA5}">
                      <a16:colId xmlns:a16="http://schemas.microsoft.com/office/drawing/2014/main" val="721397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Arial Nova" panose="020B0504020202020204" pitchFamily="34" charset="0"/>
                        </a:rPr>
                        <a:t>Identity &amp; Authentication</a:t>
                      </a:r>
                      <a:endParaRPr lang="en-GB" sz="12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User &amp; Role Management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User Lifecycle Management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Multi-Organisation Access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Governance Content Protection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Device &amp; App Security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Arial Nova" panose="020B0504020202020204" pitchFamily="34" charset="0"/>
                        </a:rPr>
                        <a:t>Audit &amp; Compliance</a:t>
                      </a:r>
                      <a:endParaRPr lang="en-GB" sz="12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33720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Email-based user identity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Role-based permission model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P1 (#472)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CS-led onboarding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Shared user across customer organisations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(530)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Document export restrictions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Session timeout / inactivity lock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System-wide activity logging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362867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MFA authentication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(469)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Predefined roles for governance and system admin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(#472)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CS-assisted user creation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Multi-organisation account tiles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(530)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Printing restrictions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Biometric authentication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Audit log access control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380471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Single Sign-On (</a:t>
                      </a:r>
                      <a:r>
                        <a:rPr lang="en-GB" sz="1100" dirty="0" err="1">
                          <a:latin typeface="Arial Nova" panose="020B0504020202020204" pitchFamily="34" charset="0"/>
                        </a:rPr>
                        <a:t>SSO</a:t>
                      </a:r>
                      <a:r>
                        <a:rPr lang="en-GB" sz="1100" dirty="0">
                          <a:latin typeface="Arial Nova" panose="020B0504020202020204" pitchFamily="34" charset="0"/>
                        </a:rPr>
                        <a:t>)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(469)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Role customization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(#472)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Customer admin self-service user management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Organisation chooser &amp; context switching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(530)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Copy / paste restrictions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Offline access duration limits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Authentication event logging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4238838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Nafath national digital identity login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P3 (499)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Forum-level permissions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(#472)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User offboarding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Cross-organisation account linking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P3 (#530)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Annotation export restrictions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Local application data purge policies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Permission change logging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2118500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Password reset management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Governance role assignments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P1 (#472)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Term expiry for members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Per-organisation identity policies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(530)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Import document restrictions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(#479)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Step-up authentication for sensitive actions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(#469)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Configuration change logging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218393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Configurable password policies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Admin-controlled access configuration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(#472)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Partial role removal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Organisation-specific authentication policies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P3 (530)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Sensitive governance content protection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P3 (441)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Application data protection behaviours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Document access logging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extLst>
                  <a:ext uri="{0D108BD9-81ED-4DB2-BD59-A6C34878D82A}">
                    <a16:rowId xmlns:a16="http://schemas.microsoft.com/office/drawing/2014/main" val="314186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Session and account security controls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User directory export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P3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Deployment configuration capture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P1 (#468)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Organisation-specific password policies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(#469)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Automatic sync policy configuration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Audit log retention policies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(#471)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endParaRPr lang="en-US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extLst>
                  <a:ext uri="{0D108BD9-81ED-4DB2-BD59-A6C34878D82A}">
                    <a16:rowId xmlns:a16="http://schemas.microsoft.com/office/drawing/2014/main" val="2220072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Cross-platform authentication consistency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(#469)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Account suspension / reactivation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(#468)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In-meeting lock / screen timeout behaviour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P2 (479)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 Nova" panose="020B0504020202020204" pitchFamily="34" charset="0"/>
                        </a:rPr>
                        <a:t>Content change logging </a:t>
                      </a:r>
                      <a:r>
                        <a:rPr lang="en-GB" sz="1100" b="1" dirty="0">
                          <a:latin typeface="Arial Nova" panose="020B0504020202020204" pitchFamily="34" charset="0"/>
                        </a:rPr>
                        <a:t>P4 (471)</a:t>
                      </a:r>
                      <a:endParaRPr lang="en-GB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extLst>
                  <a:ext uri="{0D108BD9-81ED-4DB2-BD59-A6C34878D82A}">
                    <a16:rowId xmlns:a16="http://schemas.microsoft.com/office/drawing/2014/main" val="299900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Per-customer authentication policies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P2 (#469)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Device registration enforcement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P3 (#480)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 Nova" panose="020B0504020202020204" pitchFamily="34" charset="0"/>
                        </a:rPr>
                        <a:t>Selective logging controls </a:t>
                      </a:r>
                      <a:r>
                        <a:rPr lang="en-GB" sz="1100" b="1">
                          <a:latin typeface="Arial Nova" panose="020B0504020202020204" pitchFamily="34" charset="0"/>
                        </a:rPr>
                        <a:t>P4 (#471)</a:t>
                      </a:r>
                      <a:endParaRPr lang="en-GB" sz="110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 Nova" panose="020B0504020202020204" pitchFamily="34" charset="0"/>
                      </a:endParaRPr>
                    </a:p>
                  </a:txBody>
                  <a:tcPr marL="28255" marR="28255" marT="14128" marB="14128"/>
                </a:tc>
                <a:extLst>
                  <a:ext uri="{0D108BD9-81ED-4DB2-BD59-A6C34878D82A}">
                    <a16:rowId xmlns:a16="http://schemas.microsoft.com/office/drawing/2014/main" val="14723238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11E8E2-9594-91A8-A4F0-BEDBE1CA8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097861"/>
              </p:ext>
            </p:extLst>
          </p:nvPr>
        </p:nvGraphicFramePr>
        <p:xfrm>
          <a:off x="409182" y="6163938"/>
          <a:ext cx="6906018" cy="6940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2401">
                  <a:extLst>
                    <a:ext uri="{9D8B030D-6E8A-4147-A177-3AD203B41FA5}">
                      <a16:colId xmlns:a16="http://schemas.microsoft.com/office/drawing/2014/main" val="2516589637"/>
                    </a:ext>
                  </a:extLst>
                </a:gridCol>
                <a:gridCol w="4073617">
                  <a:extLst>
                    <a:ext uri="{9D8B030D-6E8A-4147-A177-3AD203B41FA5}">
                      <a16:colId xmlns:a16="http://schemas.microsoft.com/office/drawing/2014/main" val="1755562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Surface </a:t>
                      </a:r>
                      <a:r>
                        <a:rPr lang="en-GB" sz="1050" b="1" dirty="0" err="1"/>
                        <a:t>UX</a:t>
                      </a:r>
                      <a:r>
                        <a:rPr lang="en-GB" sz="1050" b="1" dirty="0"/>
                        <a:t> Needed </a:t>
                      </a:r>
                      <a:endParaRPr lang="en-GB" sz="1050" dirty="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Primary Users</a:t>
                      </a:r>
                      <a:endParaRPr lang="en-GB" sz="105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26593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Administration Console</a:t>
                      </a:r>
                      <a:endParaRPr lang="en-GB" sz="1050" dirty="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Governance professionals, executive office staff, IT administrators</a:t>
                      </a:r>
                      <a:endParaRPr lang="en-GB" sz="1050" dirty="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73570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Internal Operational &amp; Support Tools</a:t>
                      </a:r>
                      <a:endParaRPr lang="en-GB" sz="1050" dirty="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Customer success teams, support staff, system administrators</a:t>
                      </a:r>
                      <a:endParaRPr lang="en-GB" sz="1050" dirty="0">
                        <a:latin typeface="Arial Nova" panose="020B0504020202020204" pitchFamily="34" charset="0"/>
                      </a:endParaRP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9347054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A2ABB1B-0D1C-67C9-CBC8-F841DB8AD4CA}"/>
              </a:ext>
            </a:extLst>
          </p:cNvPr>
          <p:cNvSpPr txBox="1"/>
          <p:nvPr/>
        </p:nvSpPr>
        <p:spPr>
          <a:xfrm>
            <a:off x="5636454" y="310573"/>
            <a:ext cx="6610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Numbers relate to the Initiative (e.g., 480 = Device Registration)</a:t>
            </a:r>
          </a:p>
        </p:txBody>
      </p:sp>
    </p:spTree>
    <p:extLst>
      <p:ext uri="{BB962C8B-B14F-4D97-AF65-F5344CB8AC3E}">
        <p14:creationId xmlns:p14="http://schemas.microsoft.com/office/powerpoint/2010/main" val="32387171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dam-Dec25" id="{7431AF44-789B-CE40-93DC-4DC043EA484D}" vid="{C0AADFA7-025A-624D-944A-2CFEBA79823D}"/>
    </a:ext>
  </a:extLst>
</a:theme>
</file>

<file path=ppt/theme/theme2.xml><?xml version="1.0" encoding="utf-8"?>
<a:theme xmlns:a="http://schemas.openxmlformats.org/drawingml/2006/main" name="adam.ai">
  <a:themeElements>
    <a:clrScheme name="adam-ai">
      <a:dk1>
        <a:srgbClr val="00204D"/>
      </a:dk1>
      <a:lt1>
        <a:srgbClr val="FFFFFF"/>
      </a:lt1>
      <a:dk2>
        <a:srgbClr val="00204D"/>
      </a:dk2>
      <a:lt2>
        <a:srgbClr val="E7E6E6"/>
      </a:lt2>
      <a:accent1>
        <a:srgbClr val="005CF7"/>
      </a:accent1>
      <a:accent2>
        <a:srgbClr val="0086F5"/>
      </a:accent2>
      <a:accent3>
        <a:srgbClr val="01A8FE"/>
      </a:accent3>
      <a:accent4>
        <a:srgbClr val="005CF7"/>
      </a:accent4>
      <a:accent5>
        <a:srgbClr val="01A8FE"/>
      </a:accent5>
      <a:accent6>
        <a:srgbClr val="00204D"/>
      </a:accent6>
      <a:hlink>
        <a:srgbClr val="005CF7"/>
      </a:hlink>
      <a:folHlink>
        <a:srgbClr val="01A8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m-Dec25" id="{7431AF44-789B-CE40-93DC-4DC043EA484D}" vid="{00CBE635-15BC-134A-9A89-6E512054AED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59</TotalTime>
  <Words>487</Words>
  <Application>Microsoft Macintosh PowerPoint</Application>
  <PresentationFormat>Widescreen</PresentationFormat>
  <Paragraphs>70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 Nova</vt:lpstr>
      <vt:lpstr>Arial Nova Light</vt:lpstr>
      <vt:lpstr>1_Office Theme</vt:lpstr>
      <vt:lpstr>adam.ai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Martyn Chapman</dc:creator>
  <cp:lastModifiedBy>Martyn Chapman</cp:lastModifiedBy>
  <cp:revision>1</cp:revision>
  <dcterms:created xsi:type="dcterms:W3CDTF">2026-03-11T12:03:17Z</dcterms:created>
  <dcterms:modified xsi:type="dcterms:W3CDTF">2026-03-11T13:57:40Z</dcterms:modified>
</cp:coreProperties>
</file>